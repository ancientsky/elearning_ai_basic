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7C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71600"/>
            <a:ext cx="1645920" cy="548640"/>
          </a:xfrm>
          <a:prstGeom prst="rect">
            <a:avLst/>
          </a:prstGeom>
          <a:solidFill>
            <a:srgbClr val="57C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2B3E"/>
                </a:solidFill>
                <a:latin typeface="Microsoft JhengHei"/>
                <a:ea typeface="Microsoft JhengHei"/>
                <a:cs typeface="Microsoft JhengHei"/>
              </a:rPr>
              <a:t>模組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031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進階技巧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114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7C5B6"/>
                </a:solidFill>
                <a:latin typeface="Microsoft JhengHei"/>
                <a:ea typeface="Microsoft JhengHei"/>
                <a:cs typeface="Microsoft JhengHei"/>
              </a:rPr>
              <a:t>多輪對話・迭代優化・常見錯誤・持續學習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937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⏱  片長：1 分鐘（導言）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2179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衛生福利部疾病管制署  AI 應用基礎班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7C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您已經學了 RTFC，
但有時候第一次的回應就是不夠好——
那不是您的問題，也不是 AI 的問題。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7C5B6"/>
                </a:solidFill>
                <a:latin typeface="Microsoft JhengHei"/>
                <a:ea typeface="Microsoft JhengHei"/>
                <a:cs typeface="Microsoft JhengHei"/>
              </a:rPr>
              <a:t>這個模組要教您：如何透過「多輪對話」
讓 AI 越改越好，
還有使用 AI 時最常犯的三個錯誤。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完成後，您將能夠：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685800" cy="685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1732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透過多輪對話，逐步把 AI 回應從「還可以」改到「直接可用」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63240"/>
            <a:ext cx="685800" cy="685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10896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識別並避免三個最常見的 AI 使用錯誤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754880"/>
            <a:ext cx="685800" cy="685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75488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80060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知道三個學完本課後可以繼續精進的免費資源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什麼時候需要多輪對話？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第一次回應不夠完整或不符期望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01952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需要 AI 修改特定部分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23744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想要調整語氣、長度或格式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45536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複雜任務需要分步進行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673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關鍵技巧：不要重新開始新對話——在同一對話中繼續告訴 AI 哪裡需要調整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891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    AI 會保留之前的理解，產出更符合期望的結果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多輪對話範例  （第 1/4 輪）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384048" cy="384048"/>
          </a:xfrm>
          <a:prstGeom prst="rect">
            <a:avLst/>
          </a:prstGeom>
          <a:solidFill>
            <a:srgbClr val="57C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1143000"/>
            <a:ext cx="384048" cy="38404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1430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1143000"/>
            <a:ext cx="384048" cy="38404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11430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65960" y="1143000"/>
            <a:ext cx="384048" cy="38404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65960" y="11430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第一輪：初始請求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86000"/>
            <a:ext cx="11247120" cy="2286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42316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8F8F2"/>
                </a:solidFill>
                <a:latin typeface="Microsoft JhengHei"/>
                <a:ea typeface="Microsoft JhengHei"/>
                <a:cs typeface="Microsoft JhengHei"/>
              </a:rPr>
              <a:t>你是疾管署衛教專家。
請撰寫一篇登革熱預防衛教文宣，給一般民眾，300字以內。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709160"/>
            <a:ext cx="11247120" cy="1188720"/>
          </a:xfrm>
          <a:prstGeom prst="rect">
            <a:avLst/>
          </a:prstGeom>
          <a:solidFill>
            <a:srgbClr val="57C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80060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D2B3E"/>
                </a:solidFill>
                <a:latin typeface="Microsoft JhengHei"/>
                <a:ea typeface="Microsoft JhengHei"/>
                <a:cs typeface="Microsoft JhengHei"/>
              </a:rPr>
              <a:t>AI 觀察：AI 回應了一份文字說明，但語氣比較正式……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多輪對話範例  （第 2/4 輪）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384048" cy="38404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1143000"/>
            <a:ext cx="384048" cy="384048"/>
          </a:xfrm>
          <a:prstGeom prst="rect">
            <a:avLst/>
          </a:prstGeom>
          <a:solidFill>
            <a:srgbClr val="57C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1430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1143000"/>
            <a:ext cx="384048" cy="38404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11430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65960" y="1143000"/>
            <a:ext cx="384048" cy="38404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65960" y="11430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第二輪：調整語氣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86000"/>
            <a:ext cx="11247120" cy="2286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42316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8F8F2"/>
                </a:solidFill>
                <a:latin typeface="Microsoft JhengHei"/>
                <a:ea typeface="Microsoft JhengHei"/>
                <a:cs typeface="Microsoft JhengHei"/>
              </a:rPr>
              <a:t>語氣可以再親切一點嗎？像是鄰居阿姨在提醒你的感覺。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709160"/>
            <a:ext cx="11247120" cy="1188720"/>
          </a:xfrm>
          <a:prstGeom prst="rect">
            <a:avLst/>
          </a:prstGeom>
          <a:solidFill>
            <a:srgbClr val="57C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80060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D2B3E"/>
                </a:solidFill>
                <a:latin typeface="Microsoft JhengHei"/>
                <a:ea typeface="Microsoft JhengHei"/>
                <a:cs typeface="Microsoft JhengHei"/>
              </a:rPr>
              <a:t>AI 觀察：AI 把語氣改得更口語了，但您想加入具體的預防口訣……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多輪對話範例  （第 3/4 輪）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384048" cy="38404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1143000"/>
            <a:ext cx="384048" cy="38404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1430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1143000"/>
            <a:ext cx="384048" cy="384048"/>
          </a:xfrm>
          <a:prstGeom prst="rect">
            <a:avLst/>
          </a:prstGeom>
          <a:solidFill>
            <a:srgbClr val="57C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11430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65960" y="1143000"/>
            <a:ext cx="384048" cy="38404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65960" y="11430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第三輪：增加內容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86000"/>
            <a:ext cx="11247120" cy="2286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42316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8F8F2"/>
                </a:solidFill>
                <a:latin typeface="Microsoft JhengHei"/>
                <a:ea typeface="Microsoft JhengHei"/>
                <a:cs typeface="Microsoft JhengHei"/>
              </a:rPr>
              <a:t>請在預防措施加入「巡、倒、清、刷」口訣的說明。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709160"/>
            <a:ext cx="11247120" cy="1188720"/>
          </a:xfrm>
          <a:prstGeom prst="rect">
            <a:avLst/>
          </a:prstGeom>
          <a:solidFill>
            <a:srgbClr val="57C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80060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D2B3E"/>
                </a:solidFill>
                <a:latin typeface="Microsoft JhengHei"/>
                <a:ea typeface="Microsoft JhengHei"/>
                <a:cs typeface="Microsoft JhengHei"/>
              </a:rPr>
              <a:t>AI 觀察：AI 加入了口訣說明，最後再調整一下呈現方式……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多輪對話範例  （第 4/4 輪）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384048" cy="38404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1143000"/>
            <a:ext cx="384048" cy="38404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1430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1143000"/>
            <a:ext cx="384048" cy="38404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11430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65960" y="1143000"/>
            <a:ext cx="384048" cy="384048"/>
          </a:xfrm>
          <a:prstGeom prst="rect">
            <a:avLst/>
          </a:prstGeom>
          <a:solidFill>
            <a:srgbClr val="57C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65960" y="11430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第四輪：調整格式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86000"/>
            <a:ext cx="11247120" cy="2286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42316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8F8F2"/>
                </a:solidFill>
                <a:latin typeface="Microsoft JhengHei"/>
                <a:ea typeface="Microsoft JhengHei"/>
                <a:cs typeface="Microsoft JhengHei"/>
              </a:rPr>
              <a:t>請把重點用條列式呈現，方便民眾閱讀。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709160"/>
            <a:ext cx="11247120" cy="1188720"/>
          </a:xfrm>
          <a:prstGeom prst="rect">
            <a:avLst/>
          </a:prstGeom>
          <a:solidFill>
            <a:srgbClr val="57C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80060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D2B3E"/>
                </a:solidFill>
                <a:latin typeface="Microsoft JhengHei"/>
                <a:ea typeface="Microsoft JhengHei"/>
                <a:cs typeface="Microsoft JhengHei"/>
              </a:rPr>
              <a:t>AI 觀察：四輪對話後，得到一份符合需求、格式清楚、語氣親切的衛教文宣！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迭代優化的常用指令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0642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503920"/>
              </a:tblGrid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調整需求</a:t>
                      </a:r>
                    </a:p>
                  </a:txBody>
                  <a:tcPr>
                    <a:solidFill>
                      <a:srgbClr val="1A5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可以這樣說</a:t>
                      </a:r>
                    </a:p>
                  </a:txBody>
                  <a:tcPr>
                    <a:solidFill>
                      <a:srgbClr val="1A5F7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調整語氣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「語氣再正式一點」「改得更親切」「活潑一點」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增減內容</a:t>
                      </a:r>
                    </a:p>
                  </a:txBody>
                  <a:tcPr>
                    <a:solidFill>
                      <a:srgbClr val="E4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「請加入…」「請移除…」「請縮短/擴充…」</a:t>
                      </a:r>
                    </a:p>
                  </a:txBody>
                  <a:tcPr>
                    <a:solidFill>
                      <a:srgbClr val="E4F3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調整格式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「請改成條列式」「請加入標題」「整理成表格」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修正錯誤</a:t>
                      </a:r>
                    </a:p>
                  </a:txBody>
                  <a:tcPr>
                    <a:solidFill>
                      <a:srgbClr val="E4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「這部分不對，應該是…」「數字有誤，應為…」</a:t>
                      </a:r>
                    </a:p>
                  </a:txBody>
                  <a:tcPr>
                    <a:solidFill>
                      <a:srgbClr val="E4F3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聚焦特定部分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「第二段請重寫」「只修改結尾」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常見錯誤 1：輸入個人資料（最嚴重！）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303520" cy="2286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8F8F2"/>
                </a:solidFill>
                <a:latin typeface="Microsoft JhengHei"/>
                <a:ea typeface="Microsoft JhengHei"/>
                <a:cs typeface="Microsoft JhengHei"/>
              </a:rPr>
              <a:t>✗  錯誤做法
「請幫我整理這份疫調報告：
 患者姓名：王大明
 身分證字號：A123456789
 地址：台北市…」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749039"/>
            <a:ext cx="5303520" cy="7315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7947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⚠  嚴重違反資安規範！可能導致個資外洩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280160"/>
            <a:ext cx="5303520" cy="22860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41732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✓  正確做法（去識別化）
「請幫我整理這份疫調報告格式：
 患者 A，50 歲男性，北部地區居民，
 發病日期：2024/10/15…」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3749039"/>
            <a:ext cx="5303520" cy="731520"/>
          </a:xfrm>
          <a:prstGeom prst="rect">
            <a:avLst/>
          </a:prstGeom>
          <a:solidFill>
            <a:srgbClr val="159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37947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✓  移除個資後，可以使用 AI 協助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54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1">
                <a:solidFill>
                  <a:srgbClr val="DC3545"/>
                </a:solidFill>
                <a:latin typeface="Microsoft JhengHei"/>
                <a:ea typeface="Microsoft JhengHei"/>
                <a:cs typeface="Microsoft JhengHei"/>
              </a:rPr>
              <a:t>原則：不確定能不能輸入，那就不要輸入。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2B3E"/>
                </a:solidFill>
                <a:latin typeface="Microsoft JhengHei"/>
                <a:ea typeface="Microsoft JhengHei"/>
                <a:cs typeface="Microsoft JhengHei"/>
              </a:rPr>
              <a:t>常見錯誤 2：Prompt 模糊不清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4114800" cy="13716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3545"/>
                </a:solidFill>
                <a:latin typeface="Microsoft JhengHei"/>
                <a:ea typeface="Microsoft JhengHei"/>
                <a:cs typeface="Microsoft JhengHei"/>
              </a:rPr>
              <a:t>✗  「幫我處理這個」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1371600"/>
            <a:ext cx="6858000" cy="13716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554480"/>
            <a:ext cx="6492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D2B3E"/>
                </a:solidFill>
                <a:latin typeface="Microsoft JhengHei"/>
                <a:ea typeface="Microsoft JhengHei"/>
                <a:cs typeface="Microsoft JhengHei"/>
              </a:rPr>
              <a:t>問題：AI 不知道「這個」是什麼
解決：套用 RTFC 框架，描述角色、任務、格式、限制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71800"/>
            <a:ext cx="4114800" cy="13716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3545"/>
                </a:solidFill>
                <a:latin typeface="Microsoft JhengHei"/>
                <a:ea typeface="Microsoft JhengHei"/>
                <a:cs typeface="Microsoft JhengHei"/>
              </a:rPr>
              <a:t>✗  「寫點東西」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2971800"/>
            <a:ext cx="6858000" cy="13716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3154680"/>
            <a:ext cx="6492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D2B3E"/>
                </a:solidFill>
                <a:latin typeface="Microsoft JhengHei"/>
                <a:ea typeface="Microsoft JhengHei"/>
                <a:cs typeface="Microsoft JhengHei"/>
              </a:rPr>
              <a:t>問題：什麼東西？多長？什麼主題？
解決：套用 RTFC 框架，描述角色、任務、格式、限制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572000"/>
            <a:ext cx="4114800" cy="13716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75488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3545"/>
                </a:solidFill>
                <a:latin typeface="Microsoft JhengHei"/>
                <a:ea typeface="Microsoft JhengHei"/>
                <a:cs typeface="Microsoft JhengHei"/>
              </a:rPr>
              <a:t>✗  「改好一點」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4572000"/>
            <a:ext cx="6858000" cy="13716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4754880"/>
            <a:ext cx="6492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D2B3E"/>
                </a:solidFill>
                <a:latin typeface="Microsoft JhengHei"/>
                <a:ea typeface="Microsoft JhengHei"/>
                <a:cs typeface="Microsoft JhengHei"/>
              </a:rPr>
              <a:t>問題：什麼叫「好一點」？標準在哪？
解決：套用 RTFC 框架，描述角色、任務、格式、限制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回到模組 2 的 RTFC 框架：角色、任務、格式、限制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常見錯誤 3：完全信任 AI 輸出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47120" cy="9144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C3545"/>
                </a:solidFill>
                <a:latin typeface="Microsoft JhengHei"/>
                <a:ea typeface="Microsoft JhengHei"/>
                <a:cs typeface="Microsoft JhengHei"/>
              </a:rPr>
              <a:t>✗  「AI 說的一定對！直接複製貼上發布！」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C3545"/>
                </a:solidFill>
                <a:latin typeface="Microsoft JhengHei"/>
                <a:ea typeface="Microsoft JhengHei"/>
                <a:cs typeface="Microsoft JhengHei"/>
              </a:rPr>
              <a:t>⚠  AI 可能有「幻覺」，編造看似合理但錯誤的數字或資訊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C3545"/>
                </a:solidFill>
                <a:latin typeface="Microsoft JhengHei"/>
                <a:ea typeface="Microsoft JhengHei"/>
                <a:cs typeface="Microsoft JhengHei"/>
              </a:rPr>
              <a:t>⚠  AI 的知識有截止日期，無法得知最新疫情數據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77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C3545"/>
                </a:solidFill>
                <a:latin typeface="Microsoft JhengHei"/>
                <a:ea typeface="Microsoft JhengHei"/>
                <a:cs typeface="Microsoft JhengHei"/>
              </a:rPr>
              <a:t>⚠  AI 可能誤解您的需求，產出不符合疾管署規範的內容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029200"/>
            <a:ext cx="112471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1206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✓  正確做法：AI 的輸出是「草稿」，不是「定稿」。
   每份 AI 產出都要經過人工審核確認後才能使用。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使用 AI 的正確心態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80160"/>
            <a:ext cx="5394960" cy="24688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AI 是助手，不是主管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最終決策權在您手上
AI 只是提供草稿和建議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280160"/>
            <a:ext cx="5394960" cy="24688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5087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審核是必要步驟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19456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所有 AI 產出都要
經過人工審核確認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931920"/>
            <a:ext cx="5394960" cy="246888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1605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資安永遠第一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4632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有疑慮就不要輸入
寧可保守，不要冒險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931920"/>
            <a:ext cx="5394960" cy="2468880"/>
          </a:xfrm>
          <a:prstGeom prst="rect">
            <a:avLst/>
          </a:prstGeom>
          <a:solidFill>
            <a:srgbClr val="159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41605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持續學習優化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84632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每次使用都是學習機會
累積經驗，越用越好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持續學習資源：官方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15568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7680960"/>
              </a:tblGrid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資源</a:t>
                      </a:r>
                    </a:p>
                  </a:txBody>
                  <a:tcPr>
                    <a:solidFill>
                      <a:srgbClr val="1A5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1A5F7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Anthropic Academy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Claude 官方課程，含 Claude 101 入門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Anthropic Learn</a:t>
                      </a:r>
                    </a:p>
                  </a:txBody>
                  <a:tcPr>
                    <a:solidFill>
                      <a:srgbClr val="E4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Claude 學習資源與使用指南</a:t>
                      </a:r>
                    </a:p>
                  </a:txBody>
                  <a:tcPr>
                    <a:solidFill>
                      <a:srgbClr val="E4F3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OpenAI 教學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ChatGPT 官方使用說明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持續學習資源：免費平台（強力推薦）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15568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7680960"/>
              </a:tblGrid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資源</a:t>
                      </a:r>
                    </a:p>
                  </a:txBody>
                  <a:tcPr>
                    <a:solidFill>
                      <a:srgbClr val="1A5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1A5F7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Learn Prompting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最完整的免費 Prompt 課程，4.8 星 ⭐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Google AI Essentials</a:t>
                      </a:r>
                    </a:p>
                  </a:txBody>
                  <a:tcPr>
                    <a:solidFill>
                      <a:srgbClr val="E4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職場 AI 應用，5 模組約 10 小時</a:t>
                      </a:r>
                    </a:p>
                  </a:txBody>
                  <a:tcPr>
                    <a:solidFill>
                      <a:srgbClr val="E4F3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Anthropic 互動教學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 章節互動練習，含 Playground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IBM Prompt Engineering</a:t>
                      </a:r>
                    </a:p>
                  </a:txBody>
                  <a:tcPr>
                    <a:solidFill>
                      <a:srgbClr val="E4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Coursera 免費旁聽，結構化教學</a:t>
                      </a:r>
                    </a:p>
                  </a:txBody>
                  <a:tcPr>
                    <a:solidFill>
                      <a:srgbClr val="E4F3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Prompt Engineering Guide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GitHub 開源指南，深入技術細節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六個模組，您學了什麼？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3657600" cy="210312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模組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帳號設定 + 課前準備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1234440"/>
            <a:ext cx="3657600" cy="2103120"/>
          </a:xfrm>
          <a:prstGeom prst="rect">
            <a:avLst/>
          </a:prstGeom>
          <a:solidFill>
            <a:srgbClr val="159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4173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模組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0116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AI 能力、幻覺、四條資安原則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234440"/>
            <a:ext cx="3657600" cy="210312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4173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模組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0116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RTFC 框架：角色、任務、格式、限制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566160"/>
            <a:ext cx="3657600" cy="21031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7490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模組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434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公文、會議紀錄、Email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3566160"/>
            <a:ext cx="3657600" cy="2103120"/>
          </a:xfrm>
          <a:prstGeom prst="rect">
            <a:avLst/>
          </a:prstGeom>
          <a:solidFill>
            <a:srgbClr val="57C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37490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模組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3434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Excel 公式、摘要、圖表說明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3566160"/>
            <a:ext cx="3657600" cy="21031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7490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模組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3434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多輪對話、三個常見錯誤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F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7C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7C5B6"/>
                </a:solidFill>
                <a:latin typeface="Microsoft JhengHei"/>
                <a:ea typeface="Microsoft JhengHei"/>
                <a:cs typeface="Microsoft JhengHei"/>
              </a:rPr>
              <a:t>結業測驗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37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10 題綜合測驗，涵蓋全部六個模組重點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743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7C5B6"/>
                </a:solidFill>
                <a:latin typeface="Microsoft JhengHei"/>
                <a:ea typeface="Microsoft JhengHei"/>
                <a:cs typeface="Microsoft JhengHei"/>
              </a:rPr>
              <a:t>結業條件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✓  完成所有模組的單元測驗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2245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✓  結業測驗成績 ≥ 80%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97433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✓  即可前往領取結業證書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57C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57C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4572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恭喜完成 AI 應用基礎班！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57C5B6"/>
                </a:solidFill>
                <a:latin typeface="Microsoft JhengHei"/>
                <a:ea typeface="Microsoft JhengHei"/>
                <a:cs typeface="Microsoft JhengHei"/>
              </a:rPr>
              <a:t>記得善用 Prompt 食譜庫與學習資源，持續精進。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4114800"/>
            <a:ext cx="6675120" cy="822960"/>
          </a:xfrm>
          <a:prstGeom prst="rect">
            <a:avLst/>
          </a:prstGeom>
          <a:solidFill>
            <a:srgbClr val="57C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4114800"/>
            <a:ext cx="667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2B3E"/>
                </a:solidFill>
                <a:latin typeface="Microsoft JhengHei"/>
                <a:ea typeface="Microsoft JhengHei"/>
                <a:cs typeface="Microsoft JhengHei"/>
              </a:rPr>
              <a:t>▶  前往結業測驗，領取結業證書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疾病管制署  AI 應用基礎班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